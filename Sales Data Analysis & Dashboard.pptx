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Montserrat" panose="00000500000000000000" pitchFamily="2" charset="0"/>
      <p:regular r:id="rId9"/>
    </p:embeddedFont>
    <p:embeddedFont>
      <p:font typeface="Montserrat Bold" panose="020B0604020202020204" charset="0"/>
      <p:regular r:id="rId10"/>
    </p:embeddedFont>
    <p:embeddedFont>
      <p:font typeface="Montserrat Semi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727486"/>
            <a:ext cx="9954803" cy="9991134"/>
          </a:xfrm>
          <a:custGeom>
            <a:avLst/>
            <a:gdLst/>
            <a:ahLst/>
            <a:cxnLst/>
            <a:rect l="l" t="t" r="r" b="b"/>
            <a:pathLst>
              <a:path w="9954803" h="9991134">
                <a:moveTo>
                  <a:pt x="0" y="0"/>
                </a:moveTo>
                <a:lnTo>
                  <a:pt x="9954803" y="0"/>
                </a:lnTo>
                <a:lnTo>
                  <a:pt x="9954803" y="9991134"/>
                </a:lnTo>
                <a:lnTo>
                  <a:pt x="0" y="9991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0892" y="2826137"/>
            <a:ext cx="11203259" cy="321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9000" b="1" spc="-39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SALES DATA ANALYSIS &amp; DASHBOARD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5743" y="9201150"/>
            <a:ext cx="4951363" cy="51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6"/>
              </a:lnSpc>
              <a:spcBef>
                <a:spcPct val="0"/>
              </a:spcBef>
            </a:pPr>
            <a:r>
              <a:rPr lang="en-US" sz="3004" spc="45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RAHMA RABEE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87760" y="2453892"/>
            <a:ext cx="5567243" cy="6804408"/>
          </a:xfrm>
          <a:custGeom>
            <a:avLst/>
            <a:gdLst/>
            <a:ahLst/>
            <a:cxnLst/>
            <a:rect l="l" t="t" r="r" b="b"/>
            <a:pathLst>
              <a:path w="5567243" h="6804408">
                <a:moveTo>
                  <a:pt x="0" y="0"/>
                </a:moveTo>
                <a:lnTo>
                  <a:pt x="5567244" y="0"/>
                </a:lnTo>
                <a:lnTo>
                  <a:pt x="5567244" y="6804408"/>
                </a:lnTo>
                <a:lnTo>
                  <a:pt x="0" y="6804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87358" y="3095829"/>
            <a:ext cx="7764574" cy="1101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2"/>
              </a:lnSpc>
            </a:pPr>
            <a:r>
              <a:rPr lang="en-US" sz="7899" b="1" spc="-34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9225" y="5086350"/>
            <a:ext cx="9365338" cy="500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12"/>
              </a:lnSpc>
            </a:pPr>
            <a:r>
              <a:rPr lang="en-US" sz="23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project focuses on analyzing a sales dataset and transforming it into meaningful insights that support better decision-making.</a:t>
            </a:r>
          </a:p>
          <a:p>
            <a:pPr algn="just">
              <a:lnSpc>
                <a:spcPts val="3312"/>
              </a:lnSpc>
            </a:pPr>
            <a:r>
              <a:rPr lang="en-US" sz="23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First, I explored the dataset to understand its structure, the relationships between tables, and the purpose of each column. This helped me identify which data is important and which can be removed.</a:t>
            </a:r>
          </a:p>
          <a:p>
            <a:pPr algn="just">
              <a:lnSpc>
                <a:spcPts val="3312"/>
              </a:lnSpc>
            </a:pPr>
            <a:r>
              <a:rPr lang="en-US" sz="236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dataset represents a complete sales system including customers, cities, employees, products, and transactions, which allows for analyzing sales performance from different perspectives.</a:t>
            </a:r>
          </a:p>
          <a:p>
            <a:pPr algn="just">
              <a:lnSpc>
                <a:spcPts val="3172"/>
              </a:lnSpc>
              <a:spcBef>
                <a:spcPct val="0"/>
              </a:spcBef>
            </a:pPr>
            <a:endParaRPr lang="en-US" sz="236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560776" y="2634370"/>
            <a:ext cx="698524" cy="6623930"/>
          </a:xfrm>
          <a:custGeom>
            <a:avLst/>
            <a:gdLst/>
            <a:ahLst/>
            <a:cxnLst/>
            <a:rect l="l" t="t" r="r" b="b"/>
            <a:pathLst>
              <a:path w="698524" h="6623930">
                <a:moveTo>
                  <a:pt x="0" y="0"/>
                </a:moveTo>
                <a:lnTo>
                  <a:pt x="698524" y="0"/>
                </a:lnTo>
                <a:lnTo>
                  <a:pt x="698524" y="6623930"/>
                </a:lnTo>
                <a:lnTo>
                  <a:pt x="0" y="6623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634370"/>
            <a:ext cx="5034187" cy="6623930"/>
          </a:xfrm>
          <a:custGeom>
            <a:avLst/>
            <a:gdLst/>
            <a:ahLst/>
            <a:cxnLst/>
            <a:rect l="l" t="t" r="r" b="b"/>
            <a:pathLst>
              <a:path w="5034187" h="6623930">
                <a:moveTo>
                  <a:pt x="0" y="0"/>
                </a:moveTo>
                <a:lnTo>
                  <a:pt x="5034187" y="0"/>
                </a:lnTo>
                <a:lnTo>
                  <a:pt x="5034187" y="6623930"/>
                </a:lnTo>
                <a:lnTo>
                  <a:pt x="0" y="6623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25469" y="2983577"/>
            <a:ext cx="7172725" cy="100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b="1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01505" y="4695213"/>
            <a:ext cx="9610902" cy="377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43"/>
              </a:lnSpc>
            </a:pPr>
            <a:r>
              <a:rPr lang="en-US" sz="23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After fully understanding the dataset, I moved to the data cleaning phase, which is one of the most important steps in any data analysis project.</a:t>
            </a:r>
          </a:p>
          <a:p>
            <a:pPr algn="just">
              <a:lnSpc>
                <a:spcPts val="3343"/>
              </a:lnSpc>
            </a:pPr>
            <a:r>
              <a:rPr lang="en-US" sz="23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main objective here was to ensure data quality by removing redundancy, handling inconsistencies, and keeping only the most relevant features for analysis.</a:t>
            </a:r>
          </a:p>
          <a:p>
            <a:pPr algn="just">
              <a:lnSpc>
                <a:spcPts val="3343"/>
              </a:lnSpc>
            </a:pPr>
            <a:r>
              <a:rPr lang="en-US" sz="23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 followed a structured approach, cleaning each table individually based on its role in the overall system.</a:t>
            </a:r>
          </a:p>
          <a:p>
            <a:pPr algn="just">
              <a:lnSpc>
                <a:spcPts val="3343"/>
              </a:lnSpc>
              <a:spcBef>
                <a:spcPct val="0"/>
              </a:spcBef>
            </a:pPr>
            <a:endParaRPr lang="en-US" sz="23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7358" y="2495760"/>
            <a:ext cx="2881849" cy="3001926"/>
          </a:xfrm>
          <a:custGeom>
            <a:avLst/>
            <a:gdLst/>
            <a:ahLst/>
            <a:cxnLst/>
            <a:rect l="l" t="t" r="r" b="b"/>
            <a:pathLst>
              <a:path w="2881849" h="3001926">
                <a:moveTo>
                  <a:pt x="0" y="0"/>
                </a:moveTo>
                <a:lnTo>
                  <a:pt x="2881849" y="0"/>
                </a:lnTo>
                <a:lnTo>
                  <a:pt x="2881849" y="3001926"/>
                </a:lnTo>
                <a:lnTo>
                  <a:pt x="0" y="3001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62619" y="2965737"/>
            <a:ext cx="3172146" cy="2531949"/>
          </a:xfrm>
          <a:custGeom>
            <a:avLst/>
            <a:gdLst/>
            <a:ahLst/>
            <a:cxnLst/>
            <a:rect l="l" t="t" r="r" b="b"/>
            <a:pathLst>
              <a:path w="3172146" h="2531949">
                <a:moveTo>
                  <a:pt x="0" y="0"/>
                </a:moveTo>
                <a:lnTo>
                  <a:pt x="3172146" y="0"/>
                </a:lnTo>
                <a:lnTo>
                  <a:pt x="3172146" y="2531949"/>
                </a:lnTo>
                <a:lnTo>
                  <a:pt x="0" y="2531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784427" y="3051462"/>
            <a:ext cx="7172725" cy="100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b="1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2323" y="7055669"/>
            <a:ext cx="5816369" cy="241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181" lvl="1" indent="-251091" algn="just">
              <a:lnSpc>
                <a:spcPts val="3256"/>
              </a:lnSpc>
              <a:buFont typeface="Arial"/>
              <a:buChar char="•"/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Removed: Country, Location, Sales Territory (redundant data)</a:t>
            </a:r>
          </a:p>
          <a:p>
            <a:pPr algn="just">
              <a:lnSpc>
                <a:spcPts val="3256"/>
              </a:lnSpc>
            </a:pPr>
            <a:endParaRPr lang="en-US" sz="232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02181" lvl="1" indent="-251091" algn="just">
              <a:lnSpc>
                <a:spcPts val="3256"/>
              </a:lnSpc>
              <a:buFont typeface="Arial"/>
              <a:buChar char="•"/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Kept: City, State (important for analysis)</a:t>
            </a:r>
          </a:p>
          <a:p>
            <a:pPr algn="just">
              <a:lnSpc>
                <a:spcPts val="2976"/>
              </a:lnSpc>
              <a:spcBef>
                <a:spcPct val="0"/>
              </a:spcBef>
            </a:pPr>
            <a:endParaRPr lang="en-US" sz="232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560613"/>
            <a:ext cx="48759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City Table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28040" y="7055669"/>
            <a:ext cx="4875956" cy="2920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Removed duplicated ID column</a:t>
            </a:r>
          </a:p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Removed unnecessary columns like Category</a:t>
            </a:r>
          </a:p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Removed Valid From &amp; Valid To (non-informative values)</a:t>
            </a:r>
          </a:p>
          <a:p>
            <a:pPr algn="just">
              <a:lnSpc>
                <a:spcPts val="3335"/>
              </a:lnSpc>
              <a:spcBef>
                <a:spcPct val="0"/>
              </a:spcBef>
            </a:pPr>
            <a:endParaRPr lang="en-US" sz="23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06022" y="6560613"/>
            <a:ext cx="48759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Customer Table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83344" y="7055669"/>
            <a:ext cx="4875956" cy="2404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Removed duplicated month-related columns</a:t>
            </a:r>
          </a:p>
          <a:p>
            <a:pPr algn="just">
              <a:lnSpc>
                <a:spcPts val="3335"/>
              </a:lnSpc>
            </a:pPr>
            <a:endParaRPr lang="en-US" sz="23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Kept main Date column for time analysis</a:t>
            </a:r>
          </a:p>
          <a:p>
            <a:pPr algn="just">
              <a:lnSpc>
                <a:spcPts val="2495"/>
              </a:lnSpc>
              <a:spcBef>
                <a:spcPct val="0"/>
              </a:spcBef>
            </a:pPr>
            <a:endParaRPr lang="en-US" sz="23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383344" y="6560613"/>
            <a:ext cx="48759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Database Extraction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7358" y="2495760"/>
            <a:ext cx="2881849" cy="3001926"/>
          </a:xfrm>
          <a:custGeom>
            <a:avLst/>
            <a:gdLst/>
            <a:ahLst/>
            <a:cxnLst/>
            <a:rect l="l" t="t" r="r" b="b"/>
            <a:pathLst>
              <a:path w="2881849" h="3001926">
                <a:moveTo>
                  <a:pt x="0" y="0"/>
                </a:moveTo>
                <a:lnTo>
                  <a:pt x="2881849" y="0"/>
                </a:lnTo>
                <a:lnTo>
                  <a:pt x="2881849" y="3001926"/>
                </a:lnTo>
                <a:lnTo>
                  <a:pt x="0" y="3001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62619" y="2965737"/>
            <a:ext cx="3172146" cy="2531949"/>
          </a:xfrm>
          <a:custGeom>
            <a:avLst/>
            <a:gdLst/>
            <a:ahLst/>
            <a:cxnLst/>
            <a:rect l="l" t="t" r="r" b="b"/>
            <a:pathLst>
              <a:path w="3172146" h="2531949">
                <a:moveTo>
                  <a:pt x="0" y="0"/>
                </a:moveTo>
                <a:lnTo>
                  <a:pt x="3172146" y="0"/>
                </a:lnTo>
                <a:lnTo>
                  <a:pt x="3172146" y="2531949"/>
                </a:lnTo>
                <a:lnTo>
                  <a:pt x="0" y="2531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784427" y="3051462"/>
            <a:ext cx="7172725" cy="100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4"/>
              </a:lnSpc>
            </a:pPr>
            <a:r>
              <a:rPr lang="en-US" sz="7200" b="1" spc="-31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2323" y="7055669"/>
            <a:ext cx="5816369" cy="159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2181" lvl="1" indent="-251091" algn="just">
              <a:lnSpc>
                <a:spcPts val="3256"/>
              </a:lnSpc>
              <a:buFont typeface="Arial"/>
              <a:buChar char="•"/>
            </a:pPr>
            <a:r>
              <a:rPr lang="en-US" sz="232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Kept: Employee Key, Employee Name, Is Salesperson</a:t>
            </a:r>
          </a:p>
          <a:p>
            <a:pPr algn="just">
              <a:lnSpc>
                <a:spcPts val="3256"/>
              </a:lnSpc>
            </a:pPr>
            <a:endParaRPr lang="en-US" sz="232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976"/>
              </a:lnSpc>
              <a:spcBef>
                <a:spcPct val="0"/>
              </a:spcBef>
            </a:pPr>
            <a:endParaRPr lang="en-US" sz="232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560613"/>
            <a:ext cx="48759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Employee Table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28040" y="7055669"/>
            <a:ext cx="4875956" cy="208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Kept: Unit Price, Tax Rate</a:t>
            </a:r>
          </a:p>
          <a:p>
            <a:pPr algn="just">
              <a:lnSpc>
                <a:spcPts val="3335"/>
              </a:lnSpc>
            </a:pPr>
            <a:endParaRPr lang="en-US" sz="23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Removed duplicated or irrelevant columns</a:t>
            </a:r>
          </a:p>
          <a:p>
            <a:pPr algn="just">
              <a:lnSpc>
                <a:spcPts val="3335"/>
              </a:lnSpc>
              <a:spcBef>
                <a:spcPct val="0"/>
              </a:spcBef>
            </a:pPr>
            <a:endParaRPr lang="en-US" sz="23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06022" y="6560613"/>
            <a:ext cx="48759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Stock Item Table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83344" y="7055669"/>
            <a:ext cx="4875956" cy="208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Removed duplicate rows</a:t>
            </a:r>
          </a:p>
          <a:p>
            <a:pPr algn="just">
              <a:lnSpc>
                <a:spcPts val="3335"/>
              </a:lnSpc>
            </a:pPr>
            <a:endParaRPr lang="en-US" sz="23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14324" lvl="1" indent="-257162" algn="just">
              <a:lnSpc>
                <a:spcPts val="3335"/>
              </a:lnSpc>
              <a:buFont typeface="Arial"/>
              <a:buChar char="•"/>
            </a:pPr>
            <a:r>
              <a:rPr lang="en-US" sz="238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Converted values to numeric format (prices, quantities)</a:t>
            </a:r>
          </a:p>
          <a:p>
            <a:pPr algn="just">
              <a:lnSpc>
                <a:spcPts val="3335"/>
              </a:lnSpc>
              <a:spcBef>
                <a:spcPct val="0"/>
              </a:spcBef>
            </a:pPr>
            <a:endParaRPr lang="en-US" sz="238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383344" y="6560613"/>
            <a:ext cx="487595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Sales / Orders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16998" y="1695749"/>
            <a:ext cx="14919307" cy="8445959"/>
          </a:xfrm>
          <a:custGeom>
            <a:avLst/>
            <a:gdLst/>
            <a:ahLst/>
            <a:cxnLst/>
            <a:rect l="l" t="t" r="r" b="b"/>
            <a:pathLst>
              <a:path w="14919307" h="8759763">
                <a:moveTo>
                  <a:pt x="0" y="0"/>
                </a:moveTo>
                <a:lnTo>
                  <a:pt x="14919307" y="0"/>
                </a:lnTo>
                <a:lnTo>
                  <a:pt x="14919307" y="8759762"/>
                </a:lnTo>
                <a:lnTo>
                  <a:pt x="0" y="8759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62" r="-1126" b="-296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6717" y="251788"/>
            <a:ext cx="8569249" cy="87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8"/>
              </a:lnSpc>
              <a:spcBef>
                <a:spcPct val="0"/>
              </a:spcBef>
            </a:pPr>
            <a:r>
              <a:rPr lang="en-US" sz="517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&amp;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167626" y="570471"/>
            <a:ext cx="8569249" cy="55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5"/>
              </a:lnSpc>
              <a:spcBef>
                <a:spcPct val="0"/>
              </a:spcBef>
            </a:pPr>
            <a:r>
              <a:rPr lang="en-US" sz="328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&amp;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39847" y="2344687"/>
            <a:ext cx="4817277" cy="7980428"/>
          </a:xfrm>
          <a:custGeom>
            <a:avLst/>
            <a:gdLst/>
            <a:ahLst/>
            <a:cxnLst/>
            <a:rect l="l" t="t" r="r" b="b"/>
            <a:pathLst>
              <a:path w="4817277" h="7980428">
                <a:moveTo>
                  <a:pt x="0" y="0"/>
                </a:moveTo>
                <a:lnTo>
                  <a:pt x="4817277" y="0"/>
                </a:lnTo>
                <a:lnTo>
                  <a:pt x="4817277" y="7980428"/>
                </a:lnTo>
                <a:lnTo>
                  <a:pt x="0" y="7980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05089" y="7439239"/>
            <a:ext cx="2546686" cy="3638123"/>
          </a:xfrm>
          <a:custGeom>
            <a:avLst/>
            <a:gdLst/>
            <a:ahLst/>
            <a:cxnLst/>
            <a:rect l="l" t="t" r="r" b="b"/>
            <a:pathLst>
              <a:path w="2546686" h="3638123">
                <a:moveTo>
                  <a:pt x="0" y="0"/>
                </a:moveTo>
                <a:lnTo>
                  <a:pt x="2546686" y="0"/>
                </a:lnTo>
                <a:lnTo>
                  <a:pt x="2546686" y="3638122"/>
                </a:lnTo>
                <a:lnTo>
                  <a:pt x="0" y="3638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06629" y="1217473"/>
            <a:ext cx="2890291" cy="2254427"/>
          </a:xfrm>
          <a:custGeom>
            <a:avLst/>
            <a:gdLst/>
            <a:ahLst/>
            <a:cxnLst/>
            <a:rect l="l" t="t" r="r" b="b"/>
            <a:pathLst>
              <a:path w="2890291" h="2254427">
                <a:moveTo>
                  <a:pt x="0" y="0"/>
                </a:moveTo>
                <a:lnTo>
                  <a:pt x="2890291" y="0"/>
                </a:lnTo>
                <a:lnTo>
                  <a:pt x="2890291" y="2254427"/>
                </a:lnTo>
                <a:lnTo>
                  <a:pt x="0" y="2254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87358" y="4325359"/>
            <a:ext cx="10291074" cy="150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sz="12000" b="1" spc="-527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Custom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Montserrat Bold</vt:lpstr>
      <vt:lpstr>Calibri</vt:lpstr>
      <vt:lpstr>Montserrat</vt:lpstr>
      <vt:lpstr>Arial</vt:lpstr>
      <vt:lpstr>Montserrat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Data Analysis &amp; Dashboard</dc:title>
  <cp:lastModifiedBy>rahma rabee</cp:lastModifiedBy>
  <cp:revision>2</cp:revision>
  <dcterms:created xsi:type="dcterms:W3CDTF">2006-08-16T00:00:00Z</dcterms:created>
  <dcterms:modified xsi:type="dcterms:W3CDTF">2026-10-07T12:22:51Z</dcterms:modified>
  <dc:identifier>DAHF1ySdTic</dc:identifier>
</cp:coreProperties>
</file>